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9f9f56d3bc409a" /><Relationship Type="http://schemas.openxmlformats.org/officeDocument/2006/relationships/extended-properties" Target="/docProps/app.xml" Id="R43dbf441f2144933" /><Relationship Type="http://schemas.openxmlformats.org/officeDocument/2006/relationships/officeDocument" Target="/ppt/presentation.xml" Id="R2defff00fe2d45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32693ba177426b"/>
  </p:sldMasterIdLst>
  <p:notesMasterIdLst>
    <p:notesMasterId xmlns:r="http://schemas.openxmlformats.org/officeDocument/2006/relationships" r:id="R5427f5c4b86e4cca"/>
  </p:notesMasterIdLst>
  <p:sldIdLst>
    <p:sldId xmlns:r="http://schemas.openxmlformats.org/officeDocument/2006/relationships" id="256" r:id="R2c23284f885240c5"/>
    <p:sldId xmlns:r="http://schemas.openxmlformats.org/officeDocument/2006/relationships" id="257" r:id="R6c49edd2bf214b9e"/>
    <p:sldId xmlns:r="http://schemas.openxmlformats.org/officeDocument/2006/relationships" id="258" r:id="R42876b22b2214c5b"/>
    <p:sldId xmlns:r="http://schemas.openxmlformats.org/officeDocument/2006/relationships" id="259" r:id="Ra1ad05a036dc48c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47bfac69414296" /><Relationship Type="http://schemas.openxmlformats.org/officeDocument/2006/relationships/slideMaster" Target="/ppt/slideMasters/slideMaster1.xml" Id="Rf632693ba177426b" /><Relationship Type="http://schemas.openxmlformats.org/officeDocument/2006/relationships/notesMaster" Target="/ppt/notesMasters/notesMaster1.xml" Id="R5427f5c4b86e4cca" /><Relationship Type="http://schemas.openxmlformats.org/officeDocument/2006/relationships/presProps" Target="/ppt/presProps.xml" Id="Raeb04ecbc57e4f21" /><Relationship Type="http://schemas.openxmlformats.org/officeDocument/2006/relationships/tableStyles" Target="/ppt/tableStyles.xml" Id="R5c7056e48b6744e6" /><Relationship Type="http://schemas.openxmlformats.org/officeDocument/2006/relationships/slide" Target="/ppt/slides/slide1.xml" Id="R2c23284f885240c5" /><Relationship Type="http://schemas.openxmlformats.org/officeDocument/2006/relationships/slide" Target="/ppt/slides/slide2.xml" Id="R6c49edd2bf214b9e" /><Relationship Type="http://schemas.openxmlformats.org/officeDocument/2006/relationships/slide" Target="/ppt/slides/slide3.xml" Id="R42876b22b2214c5b" /><Relationship Type="http://schemas.openxmlformats.org/officeDocument/2006/relationships/slide" Target="/ppt/slides/slide4.xml" Id="Ra1ad05a036dc48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9a1ee1925840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751f5f54fc41cf" /><Relationship Type="http://schemas.openxmlformats.org/officeDocument/2006/relationships/notesMaster" Target="/ppt/notesMasters/notesMaster1.xml" Id="Rb2e93c385f7e42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77414113b8473a" /><Relationship Type="http://schemas.openxmlformats.org/officeDocument/2006/relationships/notesMaster" Target="/ppt/notesMasters/notesMaster1.xml" Id="R0bd40bfc90b34d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0c636a59464b48" /><Relationship Type="http://schemas.openxmlformats.org/officeDocument/2006/relationships/notesMaster" Target="/ppt/notesMasters/notesMaster1.xml" Id="R69e1e042fcf641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e32d39b7f249a8" /><Relationship Type="http://schemas.openxmlformats.org/officeDocument/2006/relationships/notesMaster" Target="/ppt/notesMasters/notesMaster1.xml" Id="R3388c9cefa5f49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a6757481604f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6b46dddd234849" /><Relationship Type="http://schemas.openxmlformats.org/officeDocument/2006/relationships/slideLayout" Target="/ppt/slideLayouts/slideLayout1.xml" Id="R87910878b34b4d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910878b34b4d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5b056abcc47a0" /><Relationship Type="http://schemas.openxmlformats.org/officeDocument/2006/relationships/notesSlide" Target="/ppt/notesSlides/notesSlide1.xml" Id="Re845687cc2c34e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3cf575fb44a4e" /><Relationship Type="http://schemas.openxmlformats.org/officeDocument/2006/relationships/image" Target="/ppt/media/image.jpeg" Id="R19459807349745ed" /><Relationship Type="http://schemas.openxmlformats.org/officeDocument/2006/relationships/notesSlide" Target="/ppt/notesSlides/notesSlide2.xml" Id="R4d5907b70bf344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771cfda3044e3" /><Relationship Type="http://schemas.openxmlformats.org/officeDocument/2006/relationships/chart" Target="/ppt/slides/charts/chart1.xml" Id="Rc1313aaa06f5457d" /><Relationship Type="http://schemas.openxmlformats.org/officeDocument/2006/relationships/notesSlide" Target="/ppt/notesSlides/notesSlide3.xml" Id="R0db3212446b747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0a1d083eb4e71" /><Relationship Type="http://schemas.openxmlformats.org/officeDocument/2006/relationships/notesSlide" Target="/ppt/notesSlides/notesSlide4.xml" Id="R33b6d79e53534b17" /></Relationships>
</file>

<file path=ppt/slides/charts/chart1.xml><?xml version="1.0" encoding="utf-8"?>
<c:chartSpace xmlns:c="http://schemas.openxmlformats.org/drawingml/2006/chart">
  <c:lang val="en-US"/>
  <c:chart>
    <c:plotArea>
      <c:bubbleChart>
        <c:ser>
          <c:idx val="0"/>
          <c:order val="0"/>
          <c:tx>
            <c:v>Beverage</c:v>
          </c:tx>
          <c:spPr>
            <a:solidFill xmlns:a="http://schemas.openxmlformats.org/drawingml/2006/main">
              <a:srgbClr val="E8A11B"/>
            </a:solidFill>
            <a:ln xmlns:a="http://schemas.openxmlformats.org/drawingml/2006/main" w="9525">
              <a:solidFill>
                <a:srgbClr val="B97500"/>
              </a:solidFill>
              <a:prstDash val="solid"/>
            </a:ln>
          </c:spPr>
          <c:xVal>
            <c:numLit>
              <c:formatCode>General</c:formatCode>
              <c:ptCount val="5"/>
              <c:pt idx="0">
                <c:v>154</c:v>
              </c:pt>
              <c:pt idx="1">
                <c:v>158</c:v>
              </c:pt>
              <c:pt idx="2">
                <c:v>160</c:v>
              </c:pt>
              <c:pt idx="3">
                <c:v>168</c:v>
              </c:pt>
              <c:pt idx="4">
                <c:v>165</c:v>
              </c:pt>
            </c:numLit>
          </c:xVal>
          <c:yVal>
            <c:numLit>
              <c:formatCode>0.0"%"</c:formatCode>
              <c:ptCount val="5"/>
              <c:pt idx="0">
                <c:v>86.3</c:v>
              </c:pt>
              <c:pt idx="1">
                <c:v>65</c:v>
              </c:pt>
              <c:pt idx="2">
                <c:v>74.3</c:v>
              </c:pt>
              <c:pt idx="3">
                <c:v>88.3</c:v>
              </c:pt>
              <c:pt idx="4">
                <c:v>84.3</c:v>
              </c:pt>
            </c:numLit>
          </c:yVal>
          <c:bubbleSize>
            <c:numLit>
              <c:formatCode>General</c:formatCode>
              <c:ptCount val="5"/>
              <c:pt idx="0">
                <c:v>797.72</c:v>
              </c:pt>
              <c:pt idx="1">
                <c:v>513.5</c:v>
              </c:pt>
              <c:pt idx="2">
                <c:v>713.6</c:v>
              </c:pt>
              <c:pt idx="3">
                <c:v>1038.24</c:v>
              </c:pt>
              <c:pt idx="4">
                <c:v>556.05</c:v>
              </c:pt>
            </c:numLit>
          </c:bubbleSize>
        </c:ser>
        <c:ser>
          <c:idx val="1"/>
          <c:order val="1"/>
          <c:tx>
            <c:v>Jaffle</c:v>
          </c:tx>
          <c:spPr>
            <a:solidFill xmlns:a="http://schemas.openxmlformats.org/drawingml/2006/main">
              <a:srgbClr val="6536B4"/>
            </a:solidFill>
            <a:ln xmlns:a="http://schemas.openxmlformats.org/drawingml/2006/main" w="9525">
              <a:solidFill>
                <a:srgbClr val="3D1C78"/>
              </a:solidFill>
              <a:prstDash val="solid"/>
            </a:ln>
          </c:spPr>
          <c:xVal>
            <c:numLit>
              <c:formatCode>General</c:formatCode>
              <c:ptCount val="5"/>
              <c:pt idx="0">
                <c:v>37</c:v>
              </c:pt>
              <c:pt idx="1">
                <c:v>37</c:v>
              </c:pt>
              <c:pt idx="2">
                <c:v>43</c:v>
              </c:pt>
              <c:pt idx="3">
                <c:v>39</c:v>
              </c:pt>
              <c:pt idx="4">
                <c:v>36</c:v>
              </c:pt>
            </c:numLit>
          </c:xVal>
          <c:yVal>
            <c:numLit>
              <c:formatCode>0.0"%"</c:formatCode>
              <c:ptCount val="5"/>
              <c:pt idx="0">
                <c:v>89</c:v>
              </c:pt>
              <c:pt idx="1">
                <c:v>77.2</c:v>
              </c:pt>
              <c:pt idx="2">
                <c:v>69.5</c:v>
              </c:pt>
              <c:pt idx="3">
                <c:v>75.5</c:v>
              </c:pt>
              <c:pt idx="4">
                <c:v>80.1</c:v>
              </c:pt>
            </c:numLit>
          </c:yVal>
          <c:bubbleSize>
            <c:numLit>
              <c:formatCode>General</c:formatCode>
              <c:ptCount val="5"/>
              <c:pt idx="0">
                <c:v>362.23</c:v>
              </c:pt>
              <c:pt idx="1">
                <c:v>314.13</c:v>
              </c:pt>
              <c:pt idx="2">
                <c:v>358.62</c:v>
              </c:pt>
              <c:pt idx="3">
                <c:v>412.23</c:v>
              </c:pt>
              <c:pt idx="4">
                <c:v>345.96</c:v>
              </c:pt>
            </c:numLit>
          </c:bubbleSize>
        </c:ser>
        <c:axId val="48650112"/>
        <c:axId val="48672768"/>
      </c:bubbleChart>
      <c:valAx>
        <c:axId val="48672768"/>
        <c:scaling>
          <c:orientation val="minMax"/>
          <c:max val="92"/>
          <c:min val="6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DED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 b="1">
                    <a:solidFill>
                      <a:srgbClr val="20251F"/>
                    </a:solidFill>
                  </a:rPr>
                  <a:t>Modeled gross margin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20251F"/>
                  </a:solidFill>
                </a:defRPr>
              </a:pPr>
            </a:p>
          </c:txPr>
        </c:title>
        <c:numFmt formatCode="0.0&quot;%&quot;"/>
        <c:majorTickMark val="none"/>
        <c:minorTickMark val="none"/>
        <c:spPr>
          <a:ln xmlns:a="http://schemas.openxmlformats.org/drawingml/2006/main" w="9525">
            <a:solidFill>
              <a:srgbClr val="D8D2C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6B63"/>
                </a:solidFill>
              </a:defRPr>
            </a:pPr>
          </a:p>
        </c:txPr>
        <c:crossAx val="48650112"/>
        <c:majorUnit val="5"/>
      </c:valAx>
      <c:valAx>
        <c:axId val="48650112"/>
        <c:scaling>
          <c:orientation val="minMax"/>
          <c:max val="1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DED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 b="1">
                    <a:solidFill>
                      <a:srgbClr val="20251F"/>
                    </a:solidFill>
                  </a:rPr>
                  <a:t>Units sold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20251F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2C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6B63"/>
                </a:solidFill>
              </a:defRPr>
            </a:pPr>
          </a:p>
        </c:txPr>
        <c:crossAx val="48672768"/>
        <c:majorUnit val="3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D2C6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656B6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7F3EA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05D27C8B-B1C3-471E-9797-75BF1BD3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-171450"/>
            <a:ext cx="838200" cy="18097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E8A11B"/>
          </a:solidFill>
          <a:ln xmlns:a="http://schemas.openxmlformats.org/drawingml/2006/main" w="0">
            <a:solidFill>
              <a:srgbClr val="E8A11B"/>
            </a:solidFill>
            <a:prstDash val="solid"/>
          </a:ln>
        </p:spPr>
      </p:sp>
      <p:sp>
        <p:nvSpPr>
          <p:cNvPr id="2" name="bottom-accent">
            <a:extLst xmlns:a="http://schemas.openxmlformats.org/drawingml/2006/main">
              <a:ext uri="{FF2B5EF4-FFF2-40B4-BE49-F238E27FC236}">
                <a16:creationId xmlns:a16="http://schemas.microsoft.com/office/drawing/2014/main" id="{FB841818-4E16-4630-9F19-051F09FD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5600700"/>
            <a:ext cx="533400" cy="14668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6536B4"/>
          </a:solidFill>
          <a:ln xmlns:a="http://schemas.openxmlformats.org/drawingml/2006/main" w="0">
            <a:solidFill>
              <a:srgbClr val="6536B4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6FD3269D-E32B-4568-9206-83A77663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536B4"/>
                </a:solidFill>
              </a:defRPr>
            </a:pPr>
            <a:r>
              <a:rPr sz="1200" b="1">
                <a:solidFill>
                  <a:srgbClr val="6536B4"/>
                </a:solidFill>
              </a:rPr>
              <a:t>PRODUCT PROFITABILITY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C909FAD-4133-49C9-94FB-951514ED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933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0251F"/>
                </a:solidFill>
              </a:defRPr>
            </a:pPr>
            <a:r>
              <a:rPr sz="3750" b="1">
                <a:solidFill>
                  <a:srgbClr val="20251F"/>
                </a:solidFill>
              </a:rPr>
              <a:t>What drives modeled gross profit?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ACEA6671-5BE3-41EF-9C80-3568D95F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8096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0251F"/>
                </a:solidFill>
              </a:defRPr>
            </a:pPr>
            <a:r>
              <a:rPr sz="2175">
                <a:solidFill>
                  <a:srgbClr val="20251F"/>
                </a:solidFill>
              </a:rPr>
              <a:t>Which products generate the most modeled gross profit, and is the result driven by sales volume, unit margin, or both?</a:t>
            </a:r>
          </a:p>
        </p:txBody>
      </p:sp>
      <p:sp>
        <p:nvSpPr>
          <p:cNvPr id="6" name="definition-rule">
            <a:extLst xmlns:a="http://schemas.openxmlformats.org/drawingml/2006/main">
              <a:ext uri="{FF2B5EF4-FFF2-40B4-BE49-F238E27FC236}">
                <a16:creationId xmlns:a16="http://schemas.microsoft.com/office/drawing/2014/main" id="{0F1967EE-25E6-496D-9BE2-942D654B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3380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D6C8"/>
          </a:solidFill>
          <a:ln xmlns:a="http://schemas.openxmlformats.org/drawingml/2006/main" w="0">
            <a:solidFill>
              <a:srgbClr val="69D6C8"/>
            </a:solidFill>
            <a:prstDash val="solid"/>
          </a:ln>
        </p:spPr>
      </p:sp>
      <p:sp>
        <p:nvSpPr>
          <p:cNvPr id="7" name="definition">
            <a:extLst xmlns:a="http://schemas.openxmlformats.org/drawingml/2006/main">
              <a:ext uri="{FF2B5EF4-FFF2-40B4-BE49-F238E27FC236}">
                <a16:creationId xmlns:a16="http://schemas.microsoft.com/office/drawing/2014/main" id="{14ADF980-8B78-4C3E-8C7D-438EE118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624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251F"/>
                </a:solidFill>
              </a:defRPr>
            </a:pPr>
            <a:r>
              <a:rPr sz="1650" b="1">
                <a:solidFill>
                  <a:srgbClr val="20251F"/>
                </a:solidFill>
              </a:rPr>
              <a:t>Modeled gross profit = product price - component supply costs</a:t>
            </a:r>
          </a:p>
        </p:txBody>
      </p:sp>
      <p:sp>
        <p:nvSpPr>
          <p:cNvPr id="8" name="caveat">
            <a:extLst xmlns:a="http://schemas.openxmlformats.org/drawingml/2006/main">
              <a:ext uri="{FF2B5EF4-FFF2-40B4-BE49-F238E27FC236}">
                <a16:creationId xmlns:a16="http://schemas.microsoft.com/office/drawing/2014/main" id="{BF7DB10B-E862-4F5A-808E-65F04A44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6B63"/>
                </a:solidFill>
              </a:defRPr>
            </a:pPr>
            <a:r>
              <a:rPr sz="1275">
                <a:solidFill>
                  <a:srgbClr val="656B63"/>
                </a:solidFill>
              </a:rPr>
              <a:t>Labour, rent, discounts, and overhead are not available in the source data.</a:t>
            </a:r>
          </a:p>
        </p:txBody>
      </p:sp>
      <p:sp>
        <p:nvSpPr>
          <p:cNvPr id="9" name="metric-items sold">
            <a:extLst xmlns:a="http://schemas.openxmlformats.org/drawingml/2006/main">
              <a:ext uri="{FF2B5EF4-FFF2-40B4-BE49-F238E27FC236}">
                <a16:creationId xmlns:a16="http://schemas.microsoft.com/office/drawing/2014/main" id="{90DE1EAD-1CE3-427D-A4A0-DDD4E67D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149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8A11B"/>
                </a:solidFill>
              </a:defRPr>
            </a:pPr>
            <a:r>
              <a:rPr sz="3150" b="1">
                <a:solidFill>
                  <a:srgbClr val="E8A11B"/>
                </a:solidFill>
              </a:rPr>
              <a:t>997</a:t>
            </a:r>
          </a:p>
        </p:txBody>
      </p:sp>
      <p:sp>
        <p:nvSpPr>
          <p:cNvPr id="10" name="metric-label-items sold">
            <a:extLst xmlns:a="http://schemas.openxmlformats.org/drawingml/2006/main">
              <a:ext uri="{FF2B5EF4-FFF2-40B4-BE49-F238E27FC236}">
                <a16:creationId xmlns:a16="http://schemas.microsoft.com/office/drawing/2014/main" id="{53B29E19-D24F-4903-9CE1-11AAE5D0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6B63"/>
                </a:solidFill>
              </a:defRPr>
            </a:pPr>
            <a:r>
              <a:rPr sz="1275">
                <a:solidFill>
                  <a:srgbClr val="656B63"/>
                </a:solidFill>
              </a:rPr>
              <a:t>items sold</a:t>
            </a:r>
          </a:p>
        </p:txBody>
      </p:sp>
      <p:sp>
        <p:nvSpPr>
          <p:cNvPr id="11" name="metric-item revenue">
            <a:extLst xmlns:a="http://schemas.openxmlformats.org/drawingml/2006/main">
              <a:ext uri="{FF2B5EF4-FFF2-40B4-BE49-F238E27FC236}">
                <a16:creationId xmlns:a16="http://schemas.microsoft.com/office/drawing/2014/main" id="{7736D259-B363-4BEC-A69D-060B5F46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149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6536B4"/>
                </a:solidFill>
              </a:defRPr>
            </a:pPr>
            <a:r>
              <a:rPr sz="3150" b="1">
                <a:solidFill>
                  <a:srgbClr val="6536B4"/>
                </a:solidFill>
              </a:rPr>
              <a:t>$6,818</a:t>
            </a:r>
          </a:p>
        </p:txBody>
      </p:sp>
      <p:sp>
        <p:nvSpPr>
          <p:cNvPr id="12" name="metric-label-item revenue">
            <a:extLst xmlns:a="http://schemas.openxmlformats.org/drawingml/2006/main">
              <a:ext uri="{FF2B5EF4-FFF2-40B4-BE49-F238E27FC236}">
                <a16:creationId xmlns:a16="http://schemas.microsoft.com/office/drawing/2014/main" id="{E8B21140-9D49-4784-A9E6-543EFEFB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245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6B63"/>
                </a:solidFill>
              </a:defRPr>
            </a:pPr>
            <a:r>
              <a:rPr sz="1275">
                <a:solidFill>
                  <a:srgbClr val="656B63"/>
                </a:solidFill>
              </a:rPr>
              <a:t>item revenue</a:t>
            </a:r>
          </a:p>
        </p:txBody>
      </p:sp>
      <p:sp>
        <p:nvSpPr>
          <p:cNvPr id="13" name="metric-modeled gross profit">
            <a:extLst xmlns:a="http://schemas.openxmlformats.org/drawingml/2006/main">
              <a:ext uri="{FF2B5EF4-FFF2-40B4-BE49-F238E27FC236}">
                <a16:creationId xmlns:a16="http://schemas.microsoft.com/office/drawing/2014/main" id="{DCB46ED3-0779-4570-B4EE-33E31973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149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0251F"/>
                </a:solidFill>
              </a:defRPr>
            </a:pPr>
            <a:r>
              <a:rPr sz="3150" b="1">
                <a:solidFill>
                  <a:srgbClr val="20251F"/>
                </a:solidFill>
              </a:rPr>
              <a:t>$5,412</a:t>
            </a:r>
          </a:p>
        </p:txBody>
      </p:sp>
      <p:sp>
        <p:nvSpPr>
          <p:cNvPr id="14" name="metric-label-modeled gross profit">
            <a:extLst xmlns:a="http://schemas.openxmlformats.org/drawingml/2006/main">
              <a:ext uri="{FF2B5EF4-FFF2-40B4-BE49-F238E27FC236}">
                <a16:creationId xmlns:a16="http://schemas.microsoft.com/office/drawing/2014/main" id="{3FF3E9B7-8B58-4649-BB87-9E014D65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5245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6B63"/>
                </a:solidFill>
              </a:defRPr>
            </a:pPr>
            <a:r>
              <a:rPr sz="1275">
                <a:solidFill>
                  <a:srgbClr val="656B63"/>
                </a:solidFill>
              </a:rPr>
              <a:t>modeled gross profit</a:t>
            </a:r>
          </a:p>
        </p:txBody>
      </p:sp>
      <p:sp>
        <p:nvSpPr>
          <p:cNvPr id="1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7AB98BD-1676-485B-979B-4D94A63C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6"/>
          </a:solidFill>
          <a:ln xmlns:a="http://schemas.openxmlformats.org/drawingml/2006/main" w="0">
            <a:solidFill>
              <a:srgbClr val="D8D2C6"/>
            </a:solidFill>
            <a:prstDash val="solid"/>
          </a:ln>
        </p:spPr>
      </p:sp>
      <p:sp>
        <p:nvSpPr>
          <p:cNvPr id="16" name="footer">
            <a:extLst xmlns:a="http://schemas.openxmlformats.org/drawingml/2006/main">
              <a:ext uri="{FF2B5EF4-FFF2-40B4-BE49-F238E27FC236}">
                <a16:creationId xmlns:a16="http://schemas.microsoft.com/office/drawing/2014/main" id="{AB822698-52EE-4025-942B-A8EBF923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6B63"/>
                </a:solidFill>
              </a:defRPr>
            </a:pPr>
            <a:r>
              <a:rPr sz="975">
                <a:solidFill>
                  <a:srgbClr val="656B63"/>
                </a:solidFill>
              </a:rPr>
              <a:t>UoB dbt workshop  |  01</a:t>
            </a:r>
          </a:p>
        </p:txBody>
      </p:sp>
    </p:spTree>
    <p:extLst>
      <p:ext uri="{BB962C8B-B14F-4D97-AF65-F5344CB8AC3E}">
        <p14:creationId xmlns:p14="http://schemas.microsoft.com/office/powerpoint/2010/main" val="7082156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F0BAFBC-2C2F-43E2-BE2C-F3097B34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-171450"/>
            <a:ext cx="838200" cy="18097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69D6C8"/>
          </a:solidFill>
          <a:ln xmlns:a="http://schemas.openxmlformats.org/drawingml/2006/main" w="0">
            <a:solidFill>
              <a:srgbClr val="69D6C8"/>
            </a:solidFill>
            <a:prstDash val="solid"/>
          </a:ln>
        </p:spPr>
      </p:sp>
      <p:sp>
        <p:nvSpPr>
          <p:cNvPr id="2" name="bottom-accent">
            <a:extLst xmlns:a="http://schemas.openxmlformats.org/drawingml/2006/main">
              <a:ext uri="{FF2B5EF4-FFF2-40B4-BE49-F238E27FC236}">
                <a16:creationId xmlns:a16="http://schemas.microsoft.com/office/drawing/2014/main" id="{EA42117C-24D8-4951-8B90-2BD3CF84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5600700"/>
            <a:ext cx="533400" cy="14668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6536B4"/>
          </a:solidFill>
          <a:ln xmlns:a="http://schemas.openxmlformats.org/drawingml/2006/main" w="0">
            <a:solidFill>
              <a:srgbClr val="6536B4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EFFFB9-7BC9-4018-A5BB-58F92407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0251F"/>
                </a:solidFill>
              </a:defRPr>
            </a:pPr>
            <a:r>
              <a:rPr sz="3000" b="1">
                <a:solidFill>
                  <a:srgbClr val="20251F"/>
                </a:solidFill>
              </a:rPr>
              <a:t>Every metric traces back to four raw sources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49FBB63-E28F-4411-8ADA-DBF28E64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715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6B63"/>
                </a:solidFill>
              </a:defRPr>
            </a:pPr>
            <a:r>
              <a:rPr sz="1500">
                <a:solidFill>
                  <a:srgbClr val="656B63"/>
                </a:solidFill>
              </a:rPr>
              <a:t>The DAG makes the calculation path visible and testable.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59807349745ed"/>
          <a:stretch xmlns:a="http://schemas.openxmlformats.org/drawingml/2006/main"/>
        </p:blipFill>
        <p:spPr>
          <a:xfrm xmlns:a="http://schemas.openxmlformats.org/drawingml/2006/main">
            <a:off x="2120578" y="1409700"/>
            <a:ext cx="7950845" cy="4686300"/>
          </a:xfrm>
          <a:prstGeom xmlns:a="http://schemas.openxmlformats.org/drawingml/2006/main" prst="roundRect">
            <a:avLst>
              <a:gd name="adj" fmla="val 1626"/>
            </a:avLst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3520DEF-A693-46C5-A0F5-DF7756E4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6"/>
          </a:solidFill>
          <a:ln xmlns:a="http://schemas.openxmlformats.org/drawingml/2006/main" w="0">
            <a:solidFill>
              <a:srgbClr val="D8D2C6"/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C174D2D-73A0-450C-BC0F-EDEC3370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6B63"/>
                </a:solidFill>
              </a:defRPr>
            </a:pPr>
            <a:r>
              <a:rPr sz="975">
                <a:solidFill>
                  <a:srgbClr val="656B63"/>
                </a:solidFill>
              </a:rPr>
              <a:t>UoB dbt workshop  |  02</a:t>
            </a:r>
          </a:p>
        </p:txBody>
      </p:sp>
    </p:spTree>
    <p:extLst>
      <p:ext uri="{BB962C8B-B14F-4D97-AF65-F5344CB8AC3E}">
        <p14:creationId xmlns:p14="http://schemas.microsoft.com/office/powerpoint/2010/main" val="10638969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6A14F74E-EA1D-43F2-9975-A3C5ADA1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-171450"/>
            <a:ext cx="838200" cy="18097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E8A11B"/>
          </a:solidFill>
          <a:ln xmlns:a="http://schemas.openxmlformats.org/drawingml/2006/main" w="0">
            <a:solidFill>
              <a:srgbClr val="E8A11B"/>
            </a:solidFill>
            <a:prstDash val="solid"/>
          </a:ln>
        </p:spPr>
      </p:sp>
      <p:sp>
        <p:nvSpPr>
          <p:cNvPr id="2" name="bottom-accent">
            <a:extLst xmlns:a="http://schemas.openxmlformats.org/drawingml/2006/main">
              <a:ext uri="{FF2B5EF4-FFF2-40B4-BE49-F238E27FC236}">
                <a16:creationId xmlns:a16="http://schemas.microsoft.com/office/drawing/2014/main" id="{19B69322-2429-456C-829C-C2A650F6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5600700"/>
            <a:ext cx="533400" cy="14668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6536B4"/>
          </a:solidFill>
          <a:ln xmlns:a="http://schemas.openxmlformats.org/drawingml/2006/main" w="0">
            <a:solidFill>
              <a:srgbClr val="6536B4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B1E63C-50F2-4018-8A21-4A966075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23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0251F"/>
                </a:solidFill>
              </a:defRPr>
            </a:pPr>
            <a:r>
              <a:rPr sz="3000" b="1">
                <a:solidFill>
                  <a:srgbClr val="20251F"/>
                </a:solidFill>
              </a:rPr>
              <a:t>BEV-004 wins on volume and margin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EB74C21-B650-4FD4-B6AE-3D5DF7D9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715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56B63"/>
                </a:solidFill>
              </a:defRPr>
            </a:pPr>
            <a:r>
              <a:rPr sz="1425">
                <a:solidFill>
                  <a:srgbClr val="656B63"/>
                </a:solidFill>
              </a:rPr>
              <a:t>Bubble size shows total modeled gross profit.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8096250" cy="4552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313aaa06f5457d"/>
          </a:graphicData>
        </a:graphic>
      </p:graphicFrame>
      <p:sp>
        <p:nvSpPr>
          <p:cNvPr id="6" name="bev-label">
            <a:extLst xmlns:a="http://schemas.openxmlformats.org/drawingml/2006/main">
              <a:ext uri="{FF2B5EF4-FFF2-40B4-BE49-F238E27FC236}">
                <a16:creationId xmlns:a16="http://schemas.microsoft.com/office/drawing/2014/main" id="{ECCAAB75-D9E9-43BE-A394-59C26D60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335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8A11B"/>
                </a:solidFill>
              </a:defRPr>
            </a:pPr>
            <a:r>
              <a:rPr sz="2100" b="1">
                <a:solidFill>
                  <a:srgbClr val="E8A11B"/>
                </a:solidFill>
              </a:rPr>
              <a:t>BEV-004</a:t>
            </a:r>
          </a:p>
        </p:txBody>
      </p:sp>
      <p:sp>
        <p:nvSpPr>
          <p:cNvPr id="7" name="bev-detail">
            <a:extLst xmlns:a="http://schemas.openxmlformats.org/drawingml/2006/main">
              <a:ext uri="{FF2B5EF4-FFF2-40B4-BE49-F238E27FC236}">
                <a16:creationId xmlns:a16="http://schemas.microsoft.com/office/drawing/2014/main" id="{DB1E8763-2945-4426-BE6F-CF301CAC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52650"/>
            <a:ext cx="2333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0251F"/>
                </a:solidFill>
              </a:defRPr>
            </a:pPr>
            <a:r>
              <a:rPr sz="1425">
                <a:solidFill>
                  <a:srgbClr val="20251F"/>
                </a:solidFill>
              </a:rPr>
              <a:t>168 units</a:t>
            </a:r>
          </a:p>
          <a:p xmlns:a="http://schemas.openxmlformats.org/drawingml/2006/main">
            <a:pPr>
              <a:defRPr sz="1425">
                <a:solidFill>
                  <a:srgbClr val="20251F"/>
                </a:solidFill>
              </a:defRPr>
            </a:pPr>
            <a:r>
              <a:rPr sz="1425">
                <a:solidFill>
                  <a:srgbClr val="20251F"/>
                </a:solidFill>
              </a:rPr>
              <a:t>88.3% margin</a:t>
            </a:r>
          </a:p>
          <a:p xmlns:a="http://schemas.openxmlformats.org/drawingml/2006/main">
            <a:pPr>
              <a:defRPr sz="1425">
                <a:solidFill>
                  <a:srgbClr val="20251F"/>
                </a:solidFill>
              </a:defRPr>
            </a:pPr>
            <a:r>
              <a:rPr sz="1425">
                <a:solidFill>
                  <a:srgbClr val="20251F"/>
                </a:solidFill>
              </a:rPr>
              <a:t>$1,038 gross profit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0FCC0-C1FC-4D8C-B2D9-C3E2BF35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71850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6"/>
          </a:solidFill>
          <a:ln xmlns:a="http://schemas.openxmlformats.org/drawingml/2006/main" w="0">
            <a:solidFill>
              <a:srgbClr val="D8D2C6"/>
            </a:solidFill>
            <a:prstDash val="solid"/>
          </a:ln>
        </p:spPr>
      </p:sp>
      <p:sp>
        <p:nvSpPr>
          <p:cNvPr id="9" name="jaf-label">
            <a:extLst xmlns:a="http://schemas.openxmlformats.org/drawingml/2006/main">
              <a:ext uri="{FF2B5EF4-FFF2-40B4-BE49-F238E27FC236}">
                <a16:creationId xmlns:a16="http://schemas.microsoft.com/office/drawing/2014/main" id="{0B7585C3-7D9E-406F-A3F2-64C489E3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195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536B4"/>
                </a:solidFill>
              </a:defRPr>
            </a:pPr>
            <a:r>
              <a:rPr sz="2100" b="1">
                <a:solidFill>
                  <a:srgbClr val="6536B4"/>
                </a:solidFill>
              </a:rPr>
              <a:t>JAF-001</a:t>
            </a:r>
          </a:p>
        </p:txBody>
      </p:sp>
      <p:sp>
        <p:nvSpPr>
          <p:cNvPr id="10" name="jaf-detail">
            <a:extLst xmlns:a="http://schemas.openxmlformats.org/drawingml/2006/main">
              <a:ext uri="{FF2B5EF4-FFF2-40B4-BE49-F238E27FC236}">
                <a16:creationId xmlns:a16="http://schemas.microsoft.com/office/drawing/2014/main" id="{9554AB3B-74E6-4E82-80A3-BA0E9196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38600"/>
            <a:ext cx="2333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0251F"/>
                </a:solidFill>
              </a:defRPr>
            </a:pPr>
            <a:r>
              <a:rPr sz="1425">
                <a:solidFill>
                  <a:srgbClr val="20251F"/>
                </a:solidFill>
              </a:rPr>
              <a:t>Highest margin: 89.0%</a:t>
            </a:r>
          </a:p>
          <a:p xmlns:a="http://schemas.openxmlformats.org/drawingml/2006/main">
            <a:pPr>
              <a:defRPr sz="1425">
                <a:solidFill>
                  <a:srgbClr val="20251F"/>
                </a:solidFill>
              </a:defRPr>
            </a:pPr>
            <a:r>
              <a:rPr sz="1425">
                <a:solidFill>
                  <a:srgbClr val="20251F"/>
                </a:solidFill>
              </a:rPr>
              <a:t>Only 37 units sold</a:t>
            </a:r>
          </a:p>
        </p:txBody>
      </p:sp>
      <p:sp>
        <p:nvSpPr>
          <p:cNvPr id="11" name="period">
            <a:extLst xmlns:a="http://schemas.openxmlformats.org/drawingml/2006/main">
              <a:ext uri="{FF2B5EF4-FFF2-40B4-BE49-F238E27FC236}">
                <a16:creationId xmlns:a16="http://schemas.microsoft.com/office/drawing/2014/main" id="{C1EE27D0-B8D8-4F14-8ADE-419C8469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37210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56B63"/>
                </a:solidFill>
              </a:defRPr>
            </a:pPr>
            <a:r>
              <a:rPr sz="1050">
                <a:solidFill>
                  <a:srgbClr val="656B63"/>
                </a:solidFill>
              </a:rPr>
              <a:t>1-16 September 2016</a:t>
            </a:r>
          </a:p>
        </p:txBody>
      </p:sp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E6D5878-EFF0-43B9-B5F6-B299CB35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6"/>
          </a:solidFill>
          <a:ln xmlns:a="http://schemas.openxmlformats.org/drawingml/2006/main" w="0">
            <a:solidFill>
              <a:srgbClr val="D8D2C6"/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ECD64C5B-4F1C-4905-8578-1C2538D7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6B63"/>
                </a:solidFill>
              </a:defRPr>
            </a:pPr>
            <a:r>
              <a:rPr sz="975">
                <a:solidFill>
                  <a:srgbClr val="656B63"/>
                </a:solidFill>
              </a:rPr>
              <a:t>UoB dbt workshop  |  03</a:t>
            </a:r>
          </a:p>
        </p:txBody>
      </p:sp>
    </p:spTree>
    <p:extLst>
      <p:ext uri="{BB962C8B-B14F-4D97-AF65-F5344CB8AC3E}">
        <p14:creationId xmlns:p14="http://schemas.microsoft.com/office/powerpoint/2010/main" val="8530908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04C1D86D-01F0-4242-961D-BB3D7CBC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-171450"/>
            <a:ext cx="838200" cy="18097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6536B4"/>
          </a:solidFill>
          <a:ln xmlns:a="http://schemas.openxmlformats.org/drawingml/2006/main" w="0">
            <a:solidFill>
              <a:srgbClr val="6536B4"/>
            </a:solidFill>
            <a:prstDash val="solid"/>
          </a:ln>
        </p:spPr>
      </p:sp>
      <p:sp>
        <p:nvSpPr>
          <p:cNvPr id="2" name="bottom-accent">
            <a:extLst xmlns:a="http://schemas.openxmlformats.org/drawingml/2006/main">
              <a:ext uri="{FF2B5EF4-FFF2-40B4-BE49-F238E27FC236}">
                <a16:creationId xmlns:a16="http://schemas.microsoft.com/office/drawing/2014/main" id="{64F9D52D-3CEE-413D-AA59-2DC32BE6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5600700"/>
            <a:ext cx="533400" cy="146685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6536B4"/>
          </a:solidFill>
          <a:ln xmlns:a="http://schemas.openxmlformats.org/drawingml/2006/main" w="0">
            <a:solidFill>
              <a:srgbClr val="6536B4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6E96EE9-D3BE-4FD9-80D3-3E3ED099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0251F"/>
                </a:solidFill>
              </a:defRPr>
            </a:pPr>
            <a:r>
              <a:rPr sz="2925" b="1">
                <a:solidFill>
                  <a:srgbClr val="20251F"/>
                </a:solidFill>
              </a:rPr>
              <a:t>Protect the winner, test the margin opportunity</a:t>
            </a:r>
          </a:p>
        </p:txBody>
      </p:sp>
      <p:sp>
        <p:nvSpPr>
          <p:cNvPr id="4" name="step1-num">
            <a:extLst xmlns:a="http://schemas.openxmlformats.org/drawingml/2006/main">
              <a:ext uri="{FF2B5EF4-FFF2-40B4-BE49-F238E27FC236}">
                <a16:creationId xmlns:a16="http://schemas.microsoft.com/office/drawing/2014/main" id="{506BF5B4-DDD4-457F-A466-80D4E0CF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E8A11B"/>
                </a:solidFill>
              </a:defRPr>
            </a:pPr>
            <a:r>
              <a:rPr sz="4050" b="1">
                <a:solidFill>
                  <a:srgbClr val="E8A11B"/>
                </a:solidFill>
              </a:rPr>
              <a:t>1</a:t>
            </a:r>
          </a:p>
        </p:txBody>
      </p:sp>
      <p:sp>
        <p:nvSpPr>
          <p:cNvPr id="5" name="step1-title">
            <a:extLst xmlns:a="http://schemas.openxmlformats.org/drawingml/2006/main">
              <a:ext uri="{FF2B5EF4-FFF2-40B4-BE49-F238E27FC236}">
                <a16:creationId xmlns:a16="http://schemas.microsoft.com/office/drawing/2014/main" id="{A54C56D0-4426-4CF2-9800-08147F01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383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51F"/>
                </a:solidFill>
              </a:defRPr>
            </a:pPr>
            <a:r>
              <a:rPr sz="2025" b="1">
                <a:solidFill>
                  <a:srgbClr val="20251F"/>
                </a:solidFill>
              </a:rPr>
              <a:t>Protect BEV-004 availability</a:t>
            </a:r>
          </a:p>
        </p:txBody>
      </p:sp>
      <p:sp>
        <p:nvSpPr>
          <p:cNvPr id="6" name="step1-copy">
            <a:extLst xmlns:a="http://schemas.openxmlformats.org/drawingml/2006/main">
              <a:ext uri="{FF2B5EF4-FFF2-40B4-BE49-F238E27FC236}">
                <a16:creationId xmlns:a16="http://schemas.microsoft.com/office/drawing/2014/main" id="{85C5F887-D462-435E-B420-15382211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6B63"/>
                </a:solidFill>
              </a:defRPr>
            </a:pPr>
            <a:r>
              <a:rPr sz="1500">
                <a:solidFill>
                  <a:srgbClr val="656B63"/>
                </a:solidFill>
              </a:rPr>
              <a:t>It contributes $1,038.24, or 19.2% of modeled gross profit.</a:t>
            </a:r>
          </a:p>
        </p:txBody>
      </p:sp>
      <p:sp>
        <p:nvSpPr>
          <p:cNvPr id="7" name="step2-num">
            <a:extLst xmlns:a="http://schemas.openxmlformats.org/drawingml/2006/main">
              <a:ext uri="{FF2B5EF4-FFF2-40B4-BE49-F238E27FC236}">
                <a16:creationId xmlns:a16="http://schemas.microsoft.com/office/drawing/2014/main" id="{A5F32145-DB55-491C-90FC-CA3471FE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6536B4"/>
                </a:solidFill>
              </a:defRPr>
            </a:pPr>
            <a:r>
              <a:rPr sz="4050" b="1">
                <a:solidFill>
                  <a:srgbClr val="6536B4"/>
                </a:solidFill>
              </a:rPr>
              <a:t>2</a:t>
            </a:r>
          </a:p>
        </p:txBody>
      </p:sp>
      <p:sp>
        <p:nvSpPr>
          <p:cNvPr id="8" name="step2-title">
            <a:extLst xmlns:a="http://schemas.openxmlformats.org/drawingml/2006/main">
              <a:ext uri="{FF2B5EF4-FFF2-40B4-BE49-F238E27FC236}">
                <a16:creationId xmlns:a16="http://schemas.microsoft.com/office/drawing/2014/main" id="{618010DF-3EB8-45E2-8C23-F3B9D322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623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51F"/>
                </a:solidFill>
              </a:defRPr>
            </a:pPr>
            <a:r>
              <a:rPr sz="2025" b="1">
                <a:solidFill>
                  <a:srgbClr val="20251F"/>
                </a:solidFill>
              </a:rPr>
              <a:t>Run a controlled JAF-001 promotion</a:t>
            </a:r>
          </a:p>
        </p:txBody>
      </p:sp>
      <p:sp>
        <p:nvSpPr>
          <p:cNvPr id="9" name="step2-copy">
            <a:extLst xmlns:a="http://schemas.openxmlformats.org/drawingml/2006/main">
              <a:ext uri="{FF2B5EF4-FFF2-40B4-BE49-F238E27FC236}">
                <a16:creationId xmlns:a16="http://schemas.microsoft.com/office/drawing/2014/main" id="{27AA2ED6-18E2-40F5-8824-4AE7733E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19500"/>
            <a:ext cx="533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56B63"/>
                </a:solidFill>
              </a:defRPr>
            </a:pPr>
            <a:r>
              <a:rPr sz="1500">
                <a:solidFill>
                  <a:srgbClr val="656B63"/>
                </a:solidFill>
              </a:rPr>
              <a:t>Test whether an 89.0% unit margin can support more volume without displacing stronger products.</a:t>
            </a:r>
          </a:p>
        </p:txBody>
      </p:sp>
      <p:sp>
        <p:nvSpPr>
          <p:cNvPr id="10" name="evidence-box">
            <a:extLst xmlns:a="http://schemas.openxmlformats.org/drawingml/2006/main">
              <a:ext uri="{FF2B5EF4-FFF2-40B4-BE49-F238E27FC236}">
                <a16:creationId xmlns:a16="http://schemas.microsoft.com/office/drawing/2014/main" id="{2A0CDBDD-2FD9-4F5A-8379-29A184E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3714750" cy="3276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11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5367984F-7A51-40C3-8F7C-A80D50C8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47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251F"/>
                </a:solidFill>
              </a:defRPr>
            </a:pPr>
            <a:r>
              <a:rPr sz="1875" b="1">
                <a:solidFill>
                  <a:srgbClr val="20251F"/>
                </a:solidFill>
              </a:rPr>
              <a:t>dbt tests used</a:t>
            </a:r>
          </a:p>
        </p:txBody>
      </p:sp>
      <p:sp>
        <p:nvSpPr>
          <p:cNvPr id="12" name="key-tests">
            <a:extLst xmlns:a="http://schemas.openxmlformats.org/drawingml/2006/main">
              <a:ext uri="{FF2B5EF4-FFF2-40B4-BE49-F238E27FC236}">
                <a16:creationId xmlns:a16="http://schemas.microsoft.com/office/drawing/2014/main" id="{5A05EA63-A0DD-475B-9BE0-81FA6617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622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9D6C8"/>
                </a:solidFill>
              </a:defRPr>
            </a:pPr>
            <a:r>
              <a:rPr sz="1350" b="1">
                <a:solidFill>
                  <a:srgbClr val="69D6C8"/>
                </a:solidFill>
              </a:rPr>
              <a:t>Keys: unique + not_null</a:t>
            </a:r>
          </a:p>
        </p:txBody>
      </p:sp>
      <p:sp>
        <p:nvSpPr>
          <p:cNvPr id="13" name="grain-test">
            <a:extLst xmlns:a="http://schemas.openxmlformats.org/drawingml/2006/main">
              <a:ext uri="{FF2B5EF4-FFF2-40B4-BE49-F238E27FC236}">
                <a16:creationId xmlns:a16="http://schemas.microsoft.com/office/drawing/2014/main" id="{29B5256C-E6C8-48CE-83E9-85F12CB1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24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536B4"/>
                </a:solidFill>
              </a:defRPr>
            </a:pPr>
            <a:r>
              <a:rPr sz="1350" b="1">
                <a:solidFill>
                  <a:srgbClr val="6536B4"/>
                </a:solidFill>
              </a:rPr>
              <a:t>Grain: date + SKU unique</a:t>
            </a:r>
          </a:p>
        </p:txBody>
      </p:sp>
      <p:sp>
        <p:nvSpPr>
          <p:cNvPr id="14" name="logic-tests">
            <a:extLst xmlns:a="http://schemas.openxmlformats.org/drawingml/2006/main">
              <a:ext uri="{FF2B5EF4-FFF2-40B4-BE49-F238E27FC236}">
                <a16:creationId xmlns:a16="http://schemas.microsoft.com/office/drawing/2014/main" id="{ADE9CB0D-5D23-4F50-B6CC-B2FD3596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86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251F"/>
                </a:solidFill>
              </a:defRPr>
            </a:pPr>
            <a:r>
              <a:rPr sz="1350" b="1">
                <a:solidFill>
                  <a:srgbClr val="20251F"/>
                </a:solidFill>
              </a:rPr>
              <a:t>Logic: subtotals, profit + margin</a:t>
            </a:r>
          </a:p>
        </p:txBody>
      </p:sp>
      <p:sp>
        <p:nvSpPr>
          <p:cNvPr id="15" name="test-evidence">
            <a:extLst xmlns:a="http://schemas.openxmlformats.org/drawingml/2006/main">
              <a:ext uri="{FF2B5EF4-FFF2-40B4-BE49-F238E27FC236}">
                <a16:creationId xmlns:a16="http://schemas.microsoft.com/office/drawing/2014/main" id="{9BA64E94-53AB-4B1B-9B2A-130E0054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24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D6C8"/>
                </a:solidFill>
              </a:defRPr>
            </a:pPr>
            <a:r>
              <a:rPr sz="1275" b="1">
                <a:solidFill>
                  <a:srgbClr val="69D6C8"/>
                </a:solidFill>
              </a:rPr>
              <a:t>38 / 38 build nodes passed</a:t>
            </a:r>
          </a:p>
        </p:txBody>
      </p:sp>
      <p:sp>
        <p:nvSpPr>
          <p:cNvPr id="16" name="recon-evidence">
            <a:extLst xmlns:a="http://schemas.openxmlformats.org/drawingml/2006/main">
              <a:ext uri="{FF2B5EF4-FFF2-40B4-BE49-F238E27FC236}">
                <a16:creationId xmlns:a16="http://schemas.microsoft.com/office/drawing/2014/main" id="{1581FC4D-278F-461D-8759-26E929EE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481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536B4"/>
                </a:solidFill>
              </a:defRPr>
            </a:pPr>
            <a:r>
              <a:rPr sz="1275" b="1">
                <a:solidFill>
                  <a:srgbClr val="6536B4"/>
                </a:solidFill>
              </a:rPr>
              <a:t>686 / 686 subtotals reconciled</a:t>
            </a:r>
          </a:p>
        </p:txBody>
      </p:sp>
      <p:sp>
        <p:nvSpPr>
          <p:cNvPr id="17" name="limits-copy">
            <a:extLst xmlns:a="http://schemas.openxmlformats.org/drawingml/2006/main">
              <a:ext uri="{FF2B5EF4-FFF2-40B4-BE49-F238E27FC236}">
                <a16:creationId xmlns:a16="http://schemas.microsoft.com/office/drawing/2014/main" id="{A67B57C9-1947-40A9-956A-2A523F76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05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6B63"/>
                </a:solidFill>
              </a:defRPr>
            </a:pPr>
            <a:r>
              <a:rPr sz="1200">
                <a:solidFill>
                  <a:srgbClr val="656B63"/>
                </a:solidFill>
              </a:rPr>
              <a:t>Limits: one store, 16 days, no operating costs.</a:t>
            </a:r>
          </a:p>
        </p:txBody>
      </p:sp>
      <p:sp>
        <p:nvSpPr>
          <p:cNvPr id="1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47AF8B5-2D79-4AB6-8140-4DEA1FA3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6"/>
          </a:solidFill>
          <a:ln xmlns:a="http://schemas.openxmlformats.org/drawingml/2006/main" w="0">
            <a:solidFill>
              <a:srgbClr val="D8D2C6"/>
            </a:solidFill>
            <a:prstDash val="solid"/>
          </a:ln>
        </p:spPr>
      </p:sp>
      <p:sp>
        <p:nvSpPr>
          <p:cNvPr id="19" name="footer">
            <a:extLst xmlns:a="http://schemas.openxmlformats.org/drawingml/2006/main">
              <a:ext uri="{FF2B5EF4-FFF2-40B4-BE49-F238E27FC236}">
                <a16:creationId xmlns:a16="http://schemas.microsoft.com/office/drawing/2014/main" id="{7F8BA762-571D-4D36-B828-52E3BF95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6B63"/>
                </a:solidFill>
              </a:defRPr>
            </a:pPr>
            <a:r>
              <a:rPr sz="975">
                <a:solidFill>
                  <a:srgbClr val="656B63"/>
                </a:solidFill>
              </a:rPr>
              <a:t>UoB dbt workshop  |  04</a:t>
            </a:r>
          </a:p>
        </p:txBody>
      </p:sp>
    </p:spTree>
    <p:extLst>
      <p:ext uri="{BB962C8B-B14F-4D97-AF65-F5344CB8AC3E}">
        <p14:creationId xmlns:p14="http://schemas.microsoft.com/office/powerpoint/2010/main" val="2667138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2026-07-10T13:27:30.9630000Z</dcterms:created>
  <dcterms:modified xsi:type="dcterms:W3CDTF">2026-07-10T13:27:30.9630000Z</dcterms:modified>
</coreProperties>
</file>