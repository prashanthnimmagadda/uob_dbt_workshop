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10f521b6f54006" /><Relationship Type="http://schemas.openxmlformats.org/officeDocument/2006/relationships/extended-properties" Target="/docProps/app.xml" Id="R0c02ac7b5fab4d85" /><Relationship Type="http://schemas.openxmlformats.org/officeDocument/2006/relationships/officeDocument" Target="/ppt/presentation.xml" Id="Ra97c0733e4144a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3c3b521bc04aaa"/>
  </p:sldMasterIdLst>
  <p:notesMasterIdLst>
    <p:notesMasterId xmlns:r="http://schemas.openxmlformats.org/officeDocument/2006/relationships" r:id="Raf588bca96e74fd4"/>
  </p:notesMasterIdLst>
  <p:sldIdLst>
    <p:sldId xmlns:r="http://schemas.openxmlformats.org/officeDocument/2006/relationships" id="256" r:id="Rc6fc54ccc410419a"/>
    <p:sldId xmlns:r="http://schemas.openxmlformats.org/officeDocument/2006/relationships" id="257" r:id="R35ee8631dd4d4985"/>
    <p:sldId xmlns:r="http://schemas.openxmlformats.org/officeDocument/2006/relationships" id="258" r:id="R263f700afdb84fa4"/>
    <p:sldId xmlns:r="http://schemas.openxmlformats.org/officeDocument/2006/relationships" id="259" r:id="Rc19aec12b54944a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4a1c9879f24a42" /><Relationship Type="http://schemas.openxmlformats.org/officeDocument/2006/relationships/slideMaster" Target="/ppt/slideMasters/slideMaster1.xml" Id="R353c3b521bc04aaa" /><Relationship Type="http://schemas.openxmlformats.org/officeDocument/2006/relationships/notesMaster" Target="/ppt/notesMasters/notesMaster1.xml" Id="Raf588bca96e74fd4" /><Relationship Type="http://schemas.openxmlformats.org/officeDocument/2006/relationships/presProps" Target="/ppt/presProps.xml" Id="R7d465227d9a44ce3" /><Relationship Type="http://schemas.openxmlformats.org/officeDocument/2006/relationships/tableStyles" Target="/ppt/tableStyles.xml" Id="R38ccacc73f354f30" /><Relationship Type="http://schemas.openxmlformats.org/officeDocument/2006/relationships/slide" Target="/ppt/slides/slide1.xml" Id="Rc6fc54ccc410419a" /><Relationship Type="http://schemas.openxmlformats.org/officeDocument/2006/relationships/slide" Target="/ppt/slides/slide2.xml" Id="R35ee8631dd4d4985" /><Relationship Type="http://schemas.openxmlformats.org/officeDocument/2006/relationships/slide" Target="/ppt/slides/slide3.xml" Id="R263f700afdb84fa4" /><Relationship Type="http://schemas.openxmlformats.org/officeDocument/2006/relationships/slide" Target="/ppt/slides/slide4.xml" Id="Rc19aec12b54944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80de80c64a4b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1de2da6a464779" /><Relationship Type="http://schemas.openxmlformats.org/officeDocument/2006/relationships/notesMaster" Target="/ppt/notesMasters/notesMaster1.xml" Id="R205ef99b72d542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994c90b6114985" /><Relationship Type="http://schemas.openxmlformats.org/officeDocument/2006/relationships/notesMaster" Target="/ppt/notesMasters/notesMaster1.xml" Id="R2b6492f6f9604f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b68cb3ec9242a1" /><Relationship Type="http://schemas.openxmlformats.org/officeDocument/2006/relationships/notesMaster" Target="/ppt/notesMasters/notesMaster1.xml" Id="R12a01feab0874e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5229cdd8a2471f" /><Relationship Type="http://schemas.openxmlformats.org/officeDocument/2006/relationships/notesMaster" Target="/ppt/notesMasters/notesMaster1.xml" Id="R3c0eb2f89ed94f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b68ac70ec24f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2663ffa2c240dc" /><Relationship Type="http://schemas.openxmlformats.org/officeDocument/2006/relationships/slideLayout" Target="/ppt/slideLayouts/slideLayout1.xml" Id="Rd4bd92b8fd5a47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bd92b8fd5a47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1de2257974b41" /><Relationship Type="http://schemas.openxmlformats.org/officeDocument/2006/relationships/notesSlide" Target="/ppt/notesSlides/notesSlide1.xml" Id="R037cf8b679f341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4ef43a9544ccb" /><Relationship Type="http://schemas.openxmlformats.org/officeDocument/2006/relationships/image" Target="/ppt/media/image.jpeg" Id="R0154edfecc7e4acd" /><Relationship Type="http://schemas.openxmlformats.org/officeDocument/2006/relationships/notesSlide" Target="/ppt/notesSlides/notesSlide2.xml" Id="R08f32a3fc65b4d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21421a41542cb" /><Relationship Type="http://schemas.openxmlformats.org/officeDocument/2006/relationships/chart" Target="/ppt/slides/charts/chart1.xml" Id="R7223a7ebc00d425c" /><Relationship Type="http://schemas.openxmlformats.org/officeDocument/2006/relationships/notesSlide" Target="/ppt/notesSlides/notesSlide3.xml" Id="R772b77b725ae4b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2a9a4d99f4ea8" /><Relationship Type="http://schemas.openxmlformats.org/officeDocument/2006/relationships/notesSlide" Target="/ppt/notesSlides/notesSlide4.xml" Id="R41b83d90f00a479b" /></Relationships>
</file>

<file path=ppt/slides/charts/chart1.xml><?xml version="1.0" encoding="utf-8"?>
<c:chartSpace xmlns:c="http://schemas.openxmlformats.org/drawingml/2006/chart">
  <c:lang val="en-US"/>
  <c:chart>
    <c:plotArea>
      <c:bubbleChart>
        <c:ser>
          <c:idx val="0"/>
          <c:order val="0"/>
          <c:tx>
            <c:v>Beverage</c:v>
          </c:tx>
          <c:spPr>
            <a:solidFill xmlns:a="http://schemas.openxmlformats.org/drawingml/2006/main">
              <a:srgbClr val="E8A11B"/>
            </a:solidFill>
            <a:ln xmlns:a="http://schemas.openxmlformats.org/drawingml/2006/main" w="9525">
              <a:solidFill>
                <a:srgbClr val="B97500"/>
              </a:solidFill>
              <a:prstDash val="solid"/>
            </a:ln>
          </c:spPr>
          <c:xVal>
            <c:numLit>
              <c:formatCode>General</c:formatCode>
              <c:ptCount val="5"/>
              <c:pt idx="0">
                <c:v>154</c:v>
              </c:pt>
              <c:pt idx="1">
                <c:v>158</c:v>
              </c:pt>
              <c:pt idx="2">
                <c:v>160</c:v>
              </c:pt>
              <c:pt idx="3">
                <c:v>168</c:v>
              </c:pt>
              <c:pt idx="4">
                <c:v>165</c:v>
              </c:pt>
            </c:numLit>
          </c:xVal>
          <c:yVal>
            <c:numLit>
              <c:formatCode>0.0"%"</c:formatCode>
              <c:ptCount val="5"/>
              <c:pt idx="0">
                <c:v>86.3</c:v>
              </c:pt>
              <c:pt idx="1">
                <c:v>65</c:v>
              </c:pt>
              <c:pt idx="2">
                <c:v>74.3</c:v>
              </c:pt>
              <c:pt idx="3">
                <c:v>88.3</c:v>
              </c:pt>
              <c:pt idx="4">
                <c:v>84.3</c:v>
              </c:pt>
            </c:numLit>
          </c:yVal>
          <c:bubbleSize>
            <c:numLit>
              <c:formatCode>General</c:formatCode>
              <c:ptCount val="5"/>
              <c:pt idx="0">
                <c:v>797.72</c:v>
              </c:pt>
              <c:pt idx="1">
                <c:v>513.5</c:v>
              </c:pt>
              <c:pt idx="2">
                <c:v>713.6</c:v>
              </c:pt>
              <c:pt idx="3">
                <c:v>1038.24</c:v>
              </c:pt>
              <c:pt idx="4">
                <c:v>556.05</c:v>
              </c:pt>
            </c:numLit>
          </c:bubbleSize>
        </c:ser>
        <c:ser>
          <c:idx val="1"/>
          <c:order val="1"/>
          <c:tx>
            <c:v>Jaffle</c:v>
          </c:tx>
          <c:spPr>
            <a:solidFill xmlns:a="http://schemas.openxmlformats.org/drawingml/2006/main">
              <a:srgbClr val="6536B4"/>
            </a:solidFill>
            <a:ln xmlns:a="http://schemas.openxmlformats.org/drawingml/2006/main" w="9525">
              <a:solidFill>
                <a:srgbClr val="3D1C78"/>
              </a:solidFill>
              <a:prstDash val="solid"/>
            </a:ln>
          </c:spPr>
          <c:xVal>
            <c:numLit>
              <c:formatCode>General</c:formatCode>
              <c:ptCount val="5"/>
              <c:pt idx="0">
                <c:v>37</c:v>
              </c:pt>
              <c:pt idx="1">
                <c:v>37</c:v>
              </c:pt>
              <c:pt idx="2">
                <c:v>43</c:v>
              </c:pt>
              <c:pt idx="3">
                <c:v>39</c:v>
              </c:pt>
              <c:pt idx="4">
                <c:v>36</c:v>
              </c:pt>
            </c:numLit>
          </c:xVal>
          <c:yVal>
            <c:numLit>
              <c:formatCode>0.0"%"</c:formatCode>
              <c:ptCount val="5"/>
              <c:pt idx="0">
                <c:v>89</c:v>
              </c:pt>
              <c:pt idx="1">
                <c:v>77.2</c:v>
              </c:pt>
              <c:pt idx="2">
                <c:v>69.5</c:v>
              </c:pt>
              <c:pt idx="3">
                <c:v>75.5</c:v>
              </c:pt>
              <c:pt idx="4">
                <c:v>80.1</c:v>
              </c:pt>
            </c:numLit>
          </c:yVal>
          <c:bubbleSize>
            <c:numLit>
              <c:formatCode>General</c:formatCode>
              <c:ptCount val="5"/>
              <c:pt idx="0">
                <c:v>362.23</c:v>
              </c:pt>
              <c:pt idx="1">
                <c:v>314.13</c:v>
              </c:pt>
              <c:pt idx="2">
                <c:v>358.62</c:v>
              </c:pt>
              <c:pt idx="3">
                <c:v>412.23</c:v>
              </c:pt>
              <c:pt idx="4">
                <c:v>345.96</c:v>
              </c:pt>
            </c:numLit>
          </c:bubbleSize>
        </c:ser>
        <c:axId val="48650112"/>
        <c:axId val="48672768"/>
      </c:bubbleChart>
      <c:valAx>
        <c:axId val="48672768"/>
        <c:scaling>
          <c:orientation val="minMax"/>
          <c:max val="92"/>
          <c:min val="6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DED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 b="1">
                    <a:solidFill>
                      <a:srgbClr val="20251F"/>
                    </a:solidFill>
                  </a:rPr>
                  <a:t>Modeled gross margin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20251F"/>
                  </a:solidFill>
                </a:defRPr>
              </a:pPr>
            </a:p>
          </c:txPr>
        </c:title>
        <c:numFmt formatCode="0.0&quot;%&quot;"/>
        <c:majorTickMark val="none"/>
        <c:minorTickMark val="none"/>
        <c:spPr>
          <a:ln xmlns:a="http://schemas.openxmlformats.org/drawingml/2006/main" w="9525">
            <a:solidFill>
              <a:srgbClr val="D8D2C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6B63"/>
                </a:solidFill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18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4DED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 b="1">
                    <a:solidFill>
                      <a:srgbClr val="20251F"/>
                    </a:solidFill>
                  </a:rPr>
                  <a:t>Units sold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20251F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2C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6B63"/>
                </a:solidFill>
              </a:defRPr>
            </a:pPr>
          </a:p>
        </c:txPr>
        <c:crossAx val="48672768"/>
        <c:majorUnit val="3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8D2C6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656B6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7F3EA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322918E6-6EC9-4612-AB4B-F07B35E8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-171450"/>
            <a:ext cx="838200" cy="18097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8A11B"/>
          </a:solidFill>
          <a:ln xmlns:a="http://schemas.openxmlformats.org/drawingml/2006/main" w="0">
            <a:solidFill>
              <a:srgbClr val="E8A11B"/>
            </a:solidFill>
            <a:prstDash val="solid"/>
          </a:ln>
        </p:spPr>
      </p:sp>
      <p:sp>
        <p:nvSpPr>
          <p:cNvPr id="2" name="bottom-accent">
            <a:extLst xmlns:a="http://schemas.openxmlformats.org/drawingml/2006/main">
              <a:ext uri="{FF2B5EF4-FFF2-40B4-BE49-F238E27FC236}">
                <a16:creationId xmlns:a16="http://schemas.microsoft.com/office/drawing/2014/main" id="{62685578-0212-449D-A1D5-1E1C1733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5600700"/>
            <a:ext cx="533400" cy="14668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536B4"/>
          </a:solidFill>
          <a:ln xmlns:a="http://schemas.openxmlformats.org/drawingml/2006/main" w="0">
            <a:solidFill>
              <a:srgbClr val="6536B4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FA28762-632F-41E8-9243-D8E9D642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536B4"/>
                </a:solidFill>
              </a:defRPr>
            </a:pPr>
            <a:r>
              <a:rPr sz="1200" b="1">
                <a:solidFill>
                  <a:srgbClr val="6536B4"/>
                </a:solidFill>
              </a:rPr>
              <a:t>PRODUCT PROFITABILITY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E2AB82-4288-4034-BE6F-3E64EB13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0251F"/>
                </a:solidFill>
              </a:defRPr>
            </a:pPr>
            <a:r>
              <a:rPr sz="3750" b="1">
                <a:solidFill>
                  <a:srgbClr val="20251F"/>
                </a:solidFill>
              </a:rPr>
              <a:t>What drives modeled gross profit?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9600CE07-3785-4773-B836-CD729397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8096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0251F"/>
                </a:solidFill>
              </a:defRPr>
            </a:pPr>
            <a:r>
              <a:rPr sz="2175">
                <a:solidFill>
                  <a:srgbClr val="20251F"/>
                </a:solidFill>
              </a:rPr>
              <a:t>Which products generate the most modeled gross profit, and is the result driven by sales volume, unit margin, or both?</a:t>
            </a:r>
          </a:p>
        </p:txBody>
      </p:sp>
      <p:sp>
        <p:nvSpPr>
          <p:cNvPr id="6" name="definition-rule">
            <a:extLst xmlns:a="http://schemas.openxmlformats.org/drawingml/2006/main">
              <a:ext uri="{FF2B5EF4-FFF2-40B4-BE49-F238E27FC236}">
                <a16:creationId xmlns:a16="http://schemas.microsoft.com/office/drawing/2014/main" id="{1B2C93F5-27B5-4F09-A0AF-4255AEF1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6C8"/>
          </a:solidFill>
          <a:ln xmlns:a="http://schemas.openxmlformats.org/drawingml/2006/main" w="0">
            <a:solidFill>
              <a:srgbClr val="69D6C8"/>
            </a:solidFill>
            <a:prstDash val="solid"/>
          </a:ln>
        </p:spPr>
      </p:sp>
      <p:sp>
        <p:nvSpPr>
          <p:cNvPr id="7" name="definition">
            <a:extLst xmlns:a="http://schemas.openxmlformats.org/drawingml/2006/main">
              <a:ext uri="{FF2B5EF4-FFF2-40B4-BE49-F238E27FC236}">
                <a16:creationId xmlns:a16="http://schemas.microsoft.com/office/drawing/2014/main" id="{EBCB9F70-D51E-4ACD-88EB-2DF04E3C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6240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251F"/>
                </a:solidFill>
              </a:defRPr>
            </a:pPr>
            <a:r>
              <a:rPr sz="1650" b="1">
                <a:solidFill>
                  <a:srgbClr val="20251F"/>
                </a:solidFill>
              </a:rPr>
              <a:t>Modeled gross profit = product price - component supply costs</a:t>
            </a:r>
          </a:p>
        </p:txBody>
      </p:sp>
      <p:sp>
        <p:nvSpPr>
          <p:cNvPr id="8" name="caveat">
            <a:extLst xmlns:a="http://schemas.openxmlformats.org/drawingml/2006/main">
              <a:ext uri="{FF2B5EF4-FFF2-40B4-BE49-F238E27FC236}">
                <a16:creationId xmlns:a16="http://schemas.microsoft.com/office/drawing/2014/main" id="{7EFEE6C5-B927-4894-873E-72B7DF57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6B63"/>
                </a:solidFill>
              </a:defRPr>
            </a:pPr>
            <a:r>
              <a:rPr sz="1275">
                <a:solidFill>
                  <a:srgbClr val="656B63"/>
                </a:solidFill>
              </a:rPr>
              <a:t>Labour, rent, discounts, and overhead are not available in the source data.</a:t>
            </a:r>
          </a:p>
        </p:txBody>
      </p:sp>
      <p:sp>
        <p:nvSpPr>
          <p:cNvPr id="9" name="metric-items sold">
            <a:extLst xmlns:a="http://schemas.openxmlformats.org/drawingml/2006/main">
              <a:ext uri="{FF2B5EF4-FFF2-40B4-BE49-F238E27FC236}">
                <a16:creationId xmlns:a16="http://schemas.microsoft.com/office/drawing/2014/main" id="{D522C312-6FCD-4AE1-9532-E329BC4F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149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8A11B"/>
                </a:solidFill>
              </a:defRPr>
            </a:pPr>
            <a:r>
              <a:rPr sz="3150" b="1">
                <a:solidFill>
                  <a:srgbClr val="E8A11B"/>
                </a:solidFill>
              </a:rPr>
              <a:t>997</a:t>
            </a:r>
          </a:p>
        </p:txBody>
      </p:sp>
      <p:sp>
        <p:nvSpPr>
          <p:cNvPr id="10" name="metric-label-items sold">
            <a:extLst xmlns:a="http://schemas.openxmlformats.org/drawingml/2006/main">
              <a:ext uri="{FF2B5EF4-FFF2-40B4-BE49-F238E27FC236}">
                <a16:creationId xmlns:a16="http://schemas.microsoft.com/office/drawing/2014/main" id="{69CA55A6-9C8A-4057-A1EB-A218048A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6B63"/>
                </a:solidFill>
              </a:defRPr>
            </a:pPr>
            <a:r>
              <a:rPr sz="1275">
                <a:solidFill>
                  <a:srgbClr val="656B63"/>
                </a:solidFill>
              </a:rPr>
              <a:t>items sold</a:t>
            </a:r>
          </a:p>
        </p:txBody>
      </p:sp>
      <p:sp>
        <p:nvSpPr>
          <p:cNvPr id="11" name="metric-item revenue">
            <a:extLst xmlns:a="http://schemas.openxmlformats.org/drawingml/2006/main">
              <a:ext uri="{FF2B5EF4-FFF2-40B4-BE49-F238E27FC236}">
                <a16:creationId xmlns:a16="http://schemas.microsoft.com/office/drawing/2014/main" id="{65320D33-D0AF-450C-BCA4-A71FA140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149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536B4"/>
                </a:solidFill>
              </a:defRPr>
            </a:pPr>
            <a:r>
              <a:rPr sz="3150" b="1">
                <a:solidFill>
                  <a:srgbClr val="6536B4"/>
                </a:solidFill>
              </a:rPr>
              <a:t>$6,818</a:t>
            </a:r>
          </a:p>
        </p:txBody>
      </p:sp>
      <p:sp>
        <p:nvSpPr>
          <p:cNvPr id="12" name="metric-label-item revenue">
            <a:extLst xmlns:a="http://schemas.openxmlformats.org/drawingml/2006/main">
              <a:ext uri="{FF2B5EF4-FFF2-40B4-BE49-F238E27FC236}">
                <a16:creationId xmlns:a16="http://schemas.microsoft.com/office/drawing/2014/main" id="{EA88F7CC-46D4-4A3D-A7A2-CDA66542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5245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6B63"/>
                </a:solidFill>
              </a:defRPr>
            </a:pPr>
            <a:r>
              <a:rPr sz="1275">
                <a:solidFill>
                  <a:srgbClr val="656B63"/>
                </a:solidFill>
              </a:rPr>
              <a:t>item revenue</a:t>
            </a:r>
          </a:p>
        </p:txBody>
      </p:sp>
      <p:sp>
        <p:nvSpPr>
          <p:cNvPr id="13" name="metric-modeled gross profit">
            <a:extLst xmlns:a="http://schemas.openxmlformats.org/drawingml/2006/main">
              <a:ext uri="{FF2B5EF4-FFF2-40B4-BE49-F238E27FC236}">
                <a16:creationId xmlns:a16="http://schemas.microsoft.com/office/drawing/2014/main" id="{4193154E-74FE-4125-9D70-AD8842D7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51F"/>
                </a:solidFill>
              </a:defRPr>
            </a:pPr>
            <a:r>
              <a:rPr sz="3150" b="1">
                <a:solidFill>
                  <a:srgbClr val="20251F"/>
                </a:solidFill>
              </a:rPr>
              <a:t>$5,412</a:t>
            </a:r>
          </a:p>
        </p:txBody>
      </p:sp>
      <p:sp>
        <p:nvSpPr>
          <p:cNvPr id="14" name="metric-label-modeled gross profit">
            <a:extLst xmlns:a="http://schemas.openxmlformats.org/drawingml/2006/main">
              <a:ext uri="{FF2B5EF4-FFF2-40B4-BE49-F238E27FC236}">
                <a16:creationId xmlns:a16="http://schemas.microsoft.com/office/drawing/2014/main" id="{7793892A-8F46-4FD5-BD1C-41A28AAD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6B63"/>
                </a:solidFill>
              </a:defRPr>
            </a:pPr>
            <a:r>
              <a:rPr sz="1275">
                <a:solidFill>
                  <a:srgbClr val="656B63"/>
                </a:solidFill>
              </a:rPr>
              <a:t>modeled gross profit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C3870BC-4CB8-4E1D-8AA4-0BDA1922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D8D2C6"/>
            </a:solidFill>
            <a:prstDash val="solid"/>
          </a:ln>
        </p:spPr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CB9BEAD0-3120-4F20-97D8-38F41109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6B63"/>
                </a:solidFill>
              </a:defRPr>
            </a:pPr>
            <a:r>
              <a:rPr sz="975">
                <a:solidFill>
                  <a:srgbClr val="656B63"/>
                </a:solidFill>
              </a:rPr>
              <a:t>UoB dbt workshop  |  01</a:t>
            </a:r>
          </a:p>
        </p:txBody>
      </p:sp>
    </p:spTree>
    <p:extLst>
      <p:ext uri="{BB962C8B-B14F-4D97-AF65-F5344CB8AC3E}">
        <p14:creationId xmlns:p14="http://schemas.microsoft.com/office/powerpoint/2010/main" val="2885084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F3E34F03-3935-4D77-9ECC-4250CAB3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-171450"/>
            <a:ext cx="838200" cy="18097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9D6C8"/>
          </a:solidFill>
          <a:ln xmlns:a="http://schemas.openxmlformats.org/drawingml/2006/main" w="0">
            <a:solidFill>
              <a:srgbClr val="69D6C8"/>
            </a:solidFill>
            <a:prstDash val="solid"/>
          </a:ln>
        </p:spPr>
      </p:sp>
      <p:sp>
        <p:nvSpPr>
          <p:cNvPr id="2" name="bottom-accent">
            <a:extLst xmlns:a="http://schemas.openxmlformats.org/drawingml/2006/main">
              <a:ext uri="{FF2B5EF4-FFF2-40B4-BE49-F238E27FC236}">
                <a16:creationId xmlns:a16="http://schemas.microsoft.com/office/drawing/2014/main" id="{9B34A233-3BBB-43BE-A35F-4A5DE415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5600700"/>
            <a:ext cx="533400" cy="14668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536B4"/>
          </a:solidFill>
          <a:ln xmlns:a="http://schemas.openxmlformats.org/drawingml/2006/main" w="0">
            <a:solidFill>
              <a:srgbClr val="6536B4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0E3727-06A8-4E09-800E-4A57E8A5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51F"/>
                </a:solidFill>
              </a:defRPr>
            </a:pPr>
            <a:r>
              <a:rPr sz="3000" b="1">
                <a:solidFill>
                  <a:srgbClr val="20251F"/>
                </a:solidFill>
              </a:rPr>
              <a:t>Every metric traces back to four raw sources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18A285B7-5C95-488B-852A-B98CE604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6B63"/>
                </a:solidFill>
              </a:defRPr>
            </a:pPr>
            <a:r>
              <a:rPr sz="1500">
                <a:solidFill>
                  <a:srgbClr val="656B63"/>
                </a:solidFill>
              </a:rPr>
              <a:t>The DAG makes the calculation path visible and testable.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4edfecc7e4acd"/>
          <a:stretch xmlns:a="http://schemas.openxmlformats.org/drawingml/2006/main"/>
        </p:blipFill>
        <p:spPr>
          <a:xfrm xmlns:a="http://schemas.openxmlformats.org/drawingml/2006/main">
            <a:off x="2120578" y="1409700"/>
            <a:ext cx="7950845" cy="4686300"/>
          </a:xfrm>
          <a:prstGeom xmlns:a="http://schemas.openxmlformats.org/drawingml/2006/main" prst="roundRect">
            <a:avLst>
              <a:gd name="adj" fmla="val 1626"/>
            </a:avLst>
          </a:prstGeom>
        </p:spPr>
      </p:pic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5BA8659-B12B-4142-A53C-ED851B18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D8D2C6"/>
            </a:solidFill>
            <a:prstDash val="solid"/>
          </a:ln>
        </p:spPr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3734FF4B-0868-4B86-87CD-C7A5B66B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6B63"/>
                </a:solidFill>
              </a:defRPr>
            </a:pPr>
            <a:r>
              <a:rPr sz="975">
                <a:solidFill>
                  <a:srgbClr val="656B63"/>
                </a:solidFill>
              </a:rPr>
              <a:t>UoB dbt workshop  |  02</a:t>
            </a:r>
          </a:p>
        </p:txBody>
      </p:sp>
    </p:spTree>
    <p:extLst>
      <p:ext uri="{BB962C8B-B14F-4D97-AF65-F5344CB8AC3E}">
        <p14:creationId xmlns:p14="http://schemas.microsoft.com/office/powerpoint/2010/main" val="12592898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BA3B0977-CD07-4A38-B61A-C12D4481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-171450"/>
            <a:ext cx="838200" cy="18097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E8A11B"/>
          </a:solidFill>
          <a:ln xmlns:a="http://schemas.openxmlformats.org/drawingml/2006/main" w="0">
            <a:solidFill>
              <a:srgbClr val="E8A11B"/>
            </a:solidFill>
            <a:prstDash val="solid"/>
          </a:ln>
        </p:spPr>
      </p:sp>
      <p:sp>
        <p:nvSpPr>
          <p:cNvPr id="2" name="bottom-accent">
            <a:extLst xmlns:a="http://schemas.openxmlformats.org/drawingml/2006/main">
              <a:ext uri="{FF2B5EF4-FFF2-40B4-BE49-F238E27FC236}">
                <a16:creationId xmlns:a16="http://schemas.microsoft.com/office/drawing/2014/main" id="{03D672E7-05EF-4151-A300-396D77CE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5600700"/>
            <a:ext cx="533400" cy="14668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536B4"/>
          </a:solidFill>
          <a:ln xmlns:a="http://schemas.openxmlformats.org/drawingml/2006/main" w="0">
            <a:solidFill>
              <a:srgbClr val="6536B4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E9B643-ADA3-4CDE-9D9F-3D8E9A26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51F"/>
                </a:solidFill>
              </a:defRPr>
            </a:pPr>
            <a:r>
              <a:rPr sz="3000" b="1">
                <a:solidFill>
                  <a:srgbClr val="20251F"/>
                </a:solidFill>
              </a:rPr>
              <a:t>BEV-004 wins on volume and margin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E8391390-463D-4115-82A1-65767640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6B63"/>
                </a:solidFill>
              </a:defRPr>
            </a:pPr>
            <a:r>
              <a:rPr sz="1425">
                <a:solidFill>
                  <a:srgbClr val="656B63"/>
                </a:solidFill>
              </a:rPr>
              <a:t>Bubble size shows total modeled gross profit.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8096250" cy="4552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23a7ebc00d425c"/>
          </a:graphicData>
        </a:graphic>
      </p:graphicFrame>
      <p:sp>
        <p:nvSpPr>
          <p:cNvPr id="6" name="bev-label">
            <a:extLst xmlns:a="http://schemas.openxmlformats.org/drawingml/2006/main">
              <a:ext uri="{FF2B5EF4-FFF2-40B4-BE49-F238E27FC236}">
                <a16:creationId xmlns:a16="http://schemas.microsoft.com/office/drawing/2014/main" id="{EDBE88C0-0FA9-4329-91D1-48533623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335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8A11B"/>
                </a:solidFill>
              </a:defRPr>
            </a:pPr>
            <a:r>
              <a:rPr sz="2100" b="1">
                <a:solidFill>
                  <a:srgbClr val="E8A11B"/>
                </a:solidFill>
              </a:rPr>
              <a:t>BEV-004</a:t>
            </a:r>
          </a:p>
        </p:txBody>
      </p:sp>
      <p:sp>
        <p:nvSpPr>
          <p:cNvPr id="7" name="bev-detail">
            <a:extLst xmlns:a="http://schemas.openxmlformats.org/drawingml/2006/main">
              <a:ext uri="{FF2B5EF4-FFF2-40B4-BE49-F238E27FC236}">
                <a16:creationId xmlns:a16="http://schemas.microsoft.com/office/drawing/2014/main" id="{628B6811-7CB5-4BC3-B974-41897E63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2333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51F"/>
                </a:solidFill>
              </a:defRPr>
            </a:pPr>
            <a:r>
              <a:rPr sz="1425">
                <a:solidFill>
                  <a:srgbClr val="20251F"/>
                </a:solidFill>
              </a:rPr>
              <a:t>168 units</a:t>
            </a:r>
          </a:p>
          <a:p xmlns:a="http://schemas.openxmlformats.org/drawingml/2006/main">
            <a:pPr>
              <a:defRPr sz="1425">
                <a:solidFill>
                  <a:srgbClr val="20251F"/>
                </a:solidFill>
              </a:defRPr>
            </a:pPr>
            <a:r>
              <a:rPr sz="1425">
                <a:solidFill>
                  <a:srgbClr val="20251F"/>
                </a:solidFill>
              </a:rPr>
              <a:t>88.3% margin</a:t>
            </a:r>
          </a:p>
          <a:p xmlns:a="http://schemas.openxmlformats.org/drawingml/2006/main">
            <a:pPr>
              <a:defRPr sz="1425">
                <a:solidFill>
                  <a:srgbClr val="20251F"/>
                </a:solidFill>
              </a:defRPr>
            </a:pPr>
            <a:r>
              <a:rPr sz="1425">
                <a:solidFill>
                  <a:srgbClr val="20251F"/>
                </a:solidFill>
              </a:rPr>
              <a:t>$1,038 gross profit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B1006-40C0-4AF5-ADAA-6575414F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718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D8D2C6"/>
            </a:solidFill>
            <a:prstDash val="solid"/>
          </a:ln>
        </p:spPr>
      </p:sp>
      <p:sp>
        <p:nvSpPr>
          <p:cNvPr id="9" name="jaf-label">
            <a:extLst xmlns:a="http://schemas.openxmlformats.org/drawingml/2006/main">
              <a:ext uri="{FF2B5EF4-FFF2-40B4-BE49-F238E27FC236}">
                <a16:creationId xmlns:a16="http://schemas.microsoft.com/office/drawing/2014/main" id="{2DA207E4-A0BC-4908-8806-33E66948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536B4"/>
                </a:solidFill>
              </a:defRPr>
            </a:pPr>
            <a:r>
              <a:rPr sz="2100" b="1">
                <a:solidFill>
                  <a:srgbClr val="6536B4"/>
                </a:solidFill>
              </a:rPr>
              <a:t>JAF-001</a:t>
            </a:r>
          </a:p>
        </p:txBody>
      </p:sp>
      <p:sp>
        <p:nvSpPr>
          <p:cNvPr id="10" name="jaf-detail">
            <a:extLst xmlns:a="http://schemas.openxmlformats.org/drawingml/2006/main">
              <a:ext uri="{FF2B5EF4-FFF2-40B4-BE49-F238E27FC236}">
                <a16:creationId xmlns:a16="http://schemas.microsoft.com/office/drawing/2014/main" id="{281C6187-D07A-4700-9304-0E56E268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38600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0251F"/>
                </a:solidFill>
              </a:defRPr>
            </a:pPr>
            <a:r>
              <a:rPr sz="1425">
                <a:solidFill>
                  <a:srgbClr val="20251F"/>
                </a:solidFill>
              </a:rPr>
              <a:t>Highest margin: 89.0%</a:t>
            </a:r>
          </a:p>
          <a:p xmlns:a="http://schemas.openxmlformats.org/drawingml/2006/main">
            <a:pPr>
              <a:defRPr sz="1425">
                <a:solidFill>
                  <a:srgbClr val="20251F"/>
                </a:solidFill>
              </a:defRPr>
            </a:pPr>
            <a:r>
              <a:rPr sz="1425">
                <a:solidFill>
                  <a:srgbClr val="20251F"/>
                </a:solidFill>
              </a:rPr>
              <a:t>Only 37 units sold</a:t>
            </a:r>
          </a:p>
        </p:txBody>
      </p:sp>
      <p:sp>
        <p:nvSpPr>
          <p:cNvPr id="11" name="period">
            <a:extLst xmlns:a="http://schemas.openxmlformats.org/drawingml/2006/main">
              <a:ext uri="{FF2B5EF4-FFF2-40B4-BE49-F238E27FC236}">
                <a16:creationId xmlns:a16="http://schemas.microsoft.com/office/drawing/2014/main" id="{64930C16-FEE6-4B20-B83C-7FCC1EF9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7210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6B63"/>
                </a:solidFill>
              </a:defRPr>
            </a:pPr>
            <a:r>
              <a:rPr sz="1050">
                <a:solidFill>
                  <a:srgbClr val="656B63"/>
                </a:solidFill>
              </a:rPr>
              <a:t>1-16 September 2016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72DC5CC-B379-4AD3-8305-A13AFA59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D8D2C6"/>
            </a:solidFill>
            <a:prstDash val="solid"/>
          </a:ln>
        </p:spPr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7E004F86-EF94-42FE-A164-51E35B48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6B63"/>
                </a:solidFill>
              </a:defRPr>
            </a:pPr>
            <a:r>
              <a:rPr sz="975">
                <a:solidFill>
                  <a:srgbClr val="656B63"/>
                </a:solidFill>
              </a:rPr>
              <a:t>UoB dbt workshop  |  03</a:t>
            </a:r>
          </a:p>
        </p:txBody>
      </p:sp>
    </p:spTree>
    <p:extLst>
      <p:ext uri="{BB962C8B-B14F-4D97-AF65-F5344CB8AC3E}">
        <p14:creationId xmlns:p14="http://schemas.microsoft.com/office/powerpoint/2010/main" val="20975081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AA8D011E-5F75-4A20-9310-C44B96AC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-171450"/>
            <a:ext cx="838200" cy="18097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536B4"/>
          </a:solidFill>
          <a:ln xmlns:a="http://schemas.openxmlformats.org/drawingml/2006/main" w="0">
            <a:solidFill>
              <a:srgbClr val="6536B4"/>
            </a:solidFill>
            <a:prstDash val="solid"/>
          </a:ln>
        </p:spPr>
      </p:sp>
      <p:sp>
        <p:nvSpPr>
          <p:cNvPr id="2" name="bottom-accent">
            <a:extLst xmlns:a="http://schemas.openxmlformats.org/drawingml/2006/main">
              <a:ext uri="{FF2B5EF4-FFF2-40B4-BE49-F238E27FC236}">
                <a16:creationId xmlns:a16="http://schemas.microsoft.com/office/drawing/2014/main" id="{00DDE304-1C2D-4F35-80E0-DE51058B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5600700"/>
            <a:ext cx="533400" cy="14668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536B4"/>
          </a:solidFill>
          <a:ln xmlns:a="http://schemas.openxmlformats.org/drawingml/2006/main" w="0">
            <a:solidFill>
              <a:srgbClr val="6536B4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550EF9-C15D-4759-BD18-0CE9DB7D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0251F"/>
                </a:solidFill>
              </a:defRPr>
            </a:pPr>
            <a:r>
              <a:rPr sz="2925" b="1">
                <a:solidFill>
                  <a:srgbClr val="20251F"/>
                </a:solidFill>
              </a:rPr>
              <a:t>Protect the winner, test the margin opportunity</a:t>
            </a:r>
          </a:p>
        </p:txBody>
      </p:sp>
      <p:sp>
        <p:nvSpPr>
          <p:cNvPr id="4" name="step1-num">
            <a:extLst xmlns:a="http://schemas.openxmlformats.org/drawingml/2006/main">
              <a:ext uri="{FF2B5EF4-FFF2-40B4-BE49-F238E27FC236}">
                <a16:creationId xmlns:a16="http://schemas.microsoft.com/office/drawing/2014/main" id="{A9EDE88F-C444-4D3D-8B7F-1BAACF58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E8A11B"/>
                </a:solidFill>
              </a:defRPr>
            </a:pPr>
            <a:r>
              <a:rPr sz="4050" b="1">
                <a:solidFill>
                  <a:srgbClr val="E8A11B"/>
                </a:solidFill>
              </a:rPr>
              <a:t>1</a:t>
            </a:r>
          </a:p>
        </p:txBody>
      </p:sp>
      <p:sp>
        <p:nvSpPr>
          <p:cNvPr id="5" name="step1-title">
            <a:extLst xmlns:a="http://schemas.openxmlformats.org/drawingml/2006/main">
              <a:ext uri="{FF2B5EF4-FFF2-40B4-BE49-F238E27FC236}">
                <a16:creationId xmlns:a16="http://schemas.microsoft.com/office/drawing/2014/main" id="{523C3A45-3385-40E7-8BB8-AE46C97A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383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51F"/>
                </a:solidFill>
              </a:defRPr>
            </a:pPr>
            <a:r>
              <a:rPr sz="2025" b="1">
                <a:solidFill>
                  <a:srgbClr val="20251F"/>
                </a:solidFill>
              </a:rPr>
              <a:t>Protect BEV-004 availability</a:t>
            </a:r>
          </a:p>
        </p:txBody>
      </p:sp>
      <p:sp>
        <p:nvSpPr>
          <p:cNvPr id="6" name="step1-copy">
            <a:extLst xmlns:a="http://schemas.openxmlformats.org/drawingml/2006/main">
              <a:ext uri="{FF2B5EF4-FFF2-40B4-BE49-F238E27FC236}">
                <a16:creationId xmlns:a16="http://schemas.microsoft.com/office/drawing/2014/main" id="{93E2047B-85B1-4151-B49B-732BA971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6B63"/>
                </a:solidFill>
              </a:defRPr>
            </a:pPr>
            <a:r>
              <a:rPr sz="1500">
                <a:solidFill>
                  <a:srgbClr val="656B63"/>
                </a:solidFill>
              </a:rPr>
              <a:t>It contributes $1,038.24, or 19.2% of modeled gross profit.</a:t>
            </a:r>
          </a:p>
        </p:txBody>
      </p:sp>
      <p:sp>
        <p:nvSpPr>
          <p:cNvPr id="7" name="step2-num">
            <a:extLst xmlns:a="http://schemas.openxmlformats.org/drawingml/2006/main">
              <a:ext uri="{FF2B5EF4-FFF2-40B4-BE49-F238E27FC236}">
                <a16:creationId xmlns:a16="http://schemas.microsoft.com/office/drawing/2014/main" id="{EC0B1738-3F02-4AE0-9F16-4731AE8F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6536B4"/>
                </a:solidFill>
              </a:defRPr>
            </a:pPr>
            <a:r>
              <a:rPr sz="4050" b="1">
                <a:solidFill>
                  <a:srgbClr val="6536B4"/>
                </a:solidFill>
              </a:rPr>
              <a:t>2</a:t>
            </a:r>
          </a:p>
        </p:txBody>
      </p:sp>
      <p:sp>
        <p:nvSpPr>
          <p:cNvPr id="8" name="step2-title">
            <a:extLst xmlns:a="http://schemas.openxmlformats.org/drawingml/2006/main">
              <a:ext uri="{FF2B5EF4-FFF2-40B4-BE49-F238E27FC236}">
                <a16:creationId xmlns:a16="http://schemas.microsoft.com/office/drawing/2014/main" id="{FE27B2DB-5EE5-4391-9B61-EB91BE62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623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51F"/>
                </a:solidFill>
              </a:defRPr>
            </a:pPr>
            <a:r>
              <a:rPr sz="2025" b="1">
                <a:solidFill>
                  <a:srgbClr val="20251F"/>
                </a:solidFill>
              </a:rPr>
              <a:t>Run a controlled JAF-001 promotion</a:t>
            </a:r>
          </a:p>
        </p:txBody>
      </p:sp>
      <p:sp>
        <p:nvSpPr>
          <p:cNvPr id="9" name="step2-copy">
            <a:extLst xmlns:a="http://schemas.openxmlformats.org/drawingml/2006/main">
              <a:ext uri="{FF2B5EF4-FFF2-40B4-BE49-F238E27FC236}">
                <a16:creationId xmlns:a16="http://schemas.microsoft.com/office/drawing/2014/main" id="{595D8D1C-4E6E-4597-87DD-0BD75EB8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0"/>
            <a:ext cx="533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6B63"/>
                </a:solidFill>
              </a:defRPr>
            </a:pPr>
            <a:r>
              <a:rPr sz="1500">
                <a:solidFill>
                  <a:srgbClr val="656B63"/>
                </a:solidFill>
              </a:rPr>
              <a:t>Test whether an 89.0% unit margin can support more volume without displacing stronger products.</a:t>
            </a:r>
          </a:p>
        </p:txBody>
      </p:sp>
      <p:sp>
        <p:nvSpPr>
          <p:cNvPr id="10" name="evidence-box">
            <a:extLst xmlns:a="http://schemas.openxmlformats.org/drawingml/2006/main">
              <a:ext uri="{FF2B5EF4-FFF2-40B4-BE49-F238E27FC236}">
                <a16:creationId xmlns:a16="http://schemas.microsoft.com/office/drawing/2014/main" id="{DBD8CA01-3B80-4640-92BB-7BFA1305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81150"/>
            <a:ext cx="3714750" cy="32766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6"/>
            </a:solidFill>
            <a:prstDash val="solid"/>
          </a:ln>
        </p:spPr>
      </p:sp>
      <p:sp>
        <p:nvSpPr>
          <p:cNvPr id="11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93F43575-02DA-4FEB-BB18-F5006972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85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51F"/>
                </a:solidFill>
              </a:defRPr>
            </a:pPr>
            <a:r>
              <a:rPr sz="1875" b="1">
                <a:solidFill>
                  <a:srgbClr val="20251F"/>
                </a:solidFill>
              </a:rPr>
              <a:t>Why this is credible</a:t>
            </a:r>
          </a:p>
        </p:txBody>
      </p:sp>
      <p:sp>
        <p:nvSpPr>
          <p:cNvPr id="12" name="test-evidence">
            <a:extLst xmlns:a="http://schemas.openxmlformats.org/drawingml/2006/main">
              <a:ext uri="{FF2B5EF4-FFF2-40B4-BE49-F238E27FC236}">
                <a16:creationId xmlns:a16="http://schemas.microsoft.com/office/drawing/2014/main" id="{5E98AF1E-F4EB-4338-8D1A-81F3C3ED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9D6C8"/>
                </a:solidFill>
              </a:defRPr>
            </a:pPr>
            <a:r>
              <a:rPr sz="1500" b="1">
                <a:solidFill>
                  <a:srgbClr val="69D6C8"/>
                </a:solidFill>
              </a:rPr>
              <a:t>38 / 38 build nodes passed</a:t>
            </a:r>
          </a:p>
        </p:txBody>
      </p:sp>
      <p:sp>
        <p:nvSpPr>
          <p:cNvPr id="13" name="recon-evidence">
            <a:extLst xmlns:a="http://schemas.openxmlformats.org/drawingml/2006/main">
              <a:ext uri="{FF2B5EF4-FFF2-40B4-BE49-F238E27FC236}">
                <a16:creationId xmlns:a16="http://schemas.microsoft.com/office/drawing/2014/main" id="{B3B43B5D-2BCB-4F36-99FB-7E69FA2C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99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536B4"/>
                </a:solidFill>
              </a:defRPr>
            </a:pPr>
            <a:r>
              <a:rPr sz="1500" b="1">
                <a:solidFill>
                  <a:srgbClr val="6536B4"/>
                </a:solidFill>
              </a:rPr>
              <a:t>686 / 686 order subtotals reconciled</a:t>
            </a:r>
          </a:p>
        </p:txBody>
      </p:sp>
      <p:sp>
        <p:nvSpPr>
          <p:cNvPr id="14" name="limits-title">
            <a:extLst xmlns:a="http://schemas.openxmlformats.org/drawingml/2006/main">
              <a:ext uri="{FF2B5EF4-FFF2-40B4-BE49-F238E27FC236}">
                <a16:creationId xmlns:a16="http://schemas.microsoft.com/office/drawing/2014/main" id="{DC490C6A-F019-4486-A404-7DCAD0DD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71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0251F"/>
                </a:solidFill>
              </a:defRPr>
            </a:pPr>
            <a:r>
              <a:rPr sz="1425" b="1">
                <a:solidFill>
                  <a:srgbClr val="20251F"/>
                </a:solidFill>
              </a:rPr>
              <a:t>Limits</a:t>
            </a:r>
          </a:p>
        </p:txBody>
      </p:sp>
      <p:sp>
        <p:nvSpPr>
          <p:cNvPr id="15" name="limits-copy">
            <a:extLst xmlns:a="http://schemas.openxmlformats.org/drawingml/2006/main">
              <a:ext uri="{FF2B5EF4-FFF2-40B4-BE49-F238E27FC236}">
                <a16:creationId xmlns:a16="http://schemas.microsoft.com/office/drawing/2014/main" id="{164F9D6C-D745-4E1D-B6FD-012B54B9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719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6B63"/>
                </a:solidFill>
              </a:defRPr>
            </a:pPr>
            <a:r>
              <a:rPr sz="1275">
                <a:solidFill>
                  <a:srgbClr val="656B63"/>
                </a:solidFill>
              </a:rPr>
              <a:t>One store. Sixteen days. No operating costs.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D911BED-5CDF-4D31-A311-38B84B88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6"/>
          </a:solidFill>
          <a:ln xmlns:a="http://schemas.openxmlformats.org/drawingml/2006/main" w="0">
            <a:solidFill>
              <a:srgbClr val="D8D2C6"/>
            </a:solidFill>
            <a:prstDash val="solid"/>
          </a:ln>
        </p:spPr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94C97CE3-0FDF-46CC-AE60-84D12F3D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56B63"/>
                </a:solidFill>
              </a:defRPr>
            </a:pPr>
            <a:r>
              <a:rPr sz="975">
                <a:solidFill>
                  <a:srgbClr val="656B63"/>
                </a:solidFill>
              </a:rPr>
              <a:t>UoB dbt workshop  |  04</a:t>
            </a:r>
          </a:p>
        </p:txBody>
      </p:sp>
    </p:spTree>
    <p:extLst>
      <p:ext uri="{BB962C8B-B14F-4D97-AF65-F5344CB8AC3E}">
        <p14:creationId xmlns:p14="http://schemas.microsoft.com/office/powerpoint/2010/main" val="5097152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2026-07-10T12:51:48.6660000Z</dcterms:created>
  <dcterms:modified xsi:type="dcterms:W3CDTF">2026-07-10T12:51:48.6660000Z</dcterms:modified>
</coreProperties>
</file>